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300" b="1">
                <a:solidFill>
                  <a:srgbClr val="0F172A"/>
                </a:solidFill>
                <a:latin typeface="Arial"/>
              </a:defRPr>
            </a:pPr>
            <a:r>
              <a:t>QUALCOMM SNAPDRAGON® AI LAB CHALLENGE 2026</a:t>
            </a:r>
            <a:br/>
            <a:r>
              <a:t>TITLE PAGE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6217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/>
          <a:lstStyle/>
          <a:p>
            <a:pPr algn="ctr"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Project Title: </a:t>
            </a:r>
            <a:r>
              <a:rPr b="1" sz="1100">
                <a:solidFill>
                  <a:srgbClr val="0F172A"/>
                </a:solidFill>
              </a:rPr>
              <a:t>Kisan Sahayak AI (किसान सहायक AI)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Developer / Innovator: </a:t>
            </a:r>
            <a:r>
              <a:rPr b="1" sz="1100">
                <a:solidFill>
                  <a:srgbClr val="2563EB"/>
                </a:solidFill>
              </a:rPr>
              <a:t>MOHD UBES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Challenge Track: </a:t>
            </a:r>
            <a:r>
              <a:rPr b="1" sz="1100">
                <a:solidFill>
                  <a:srgbClr val="059669"/>
                </a:solidFill>
              </a:rPr>
              <a:t>Agriculture, FoodTech &amp; Rural 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Category: </a:t>
            </a:r>
            <a:r>
              <a:rPr b="0" sz="1100">
                <a:solidFill>
                  <a:srgbClr val="334155"/>
                </a:solidFill>
              </a:rPr>
              <a:t>Software / On-Device Edge 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Target Hardware: </a:t>
            </a:r>
            <a:r>
              <a:rPr b="1" sz="1100">
                <a:solidFill>
                  <a:srgbClr val="D97706"/>
                </a:solidFill>
              </a:rPr>
              <a:t>Qualcomm Snapdragon® X Elite (Hexagon™ NPU 45 TOPS, Adreno™ GPU)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Deployment Status: </a:t>
            </a:r>
            <a:r>
              <a:rPr b="0" sz="1100">
                <a:solidFill>
                  <a:srgbClr val="334155"/>
                </a:solidFill>
              </a:rPr>
              <a:t>Live on Vercel &amp; 100% Offline Progressive Web App (PWA)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Live Web Application: </a:t>
            </a:r>
            <a:r>
              <a:rPr b="0" sz="1100">
                <a:solidFill>
                  <a:srgbClr val="2563EB"/>
                </a:solidFill>
              </a:rPr>
              <a:t>https://kisan-sahayak-ai-ivory.vercel.app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GitHub Repository: </a:t>
            </a:r>
            <a:r>
              <a:rPr b="0" sz="1100">
                <a:solidFill>
                  <a:srgbClr val="2563EB"/>
                </a:solidFill>
              </a:rPr>
              <a:t>https://github.com/MOHDUBES/Kisan-Sahayak-AI</a:t>
            </a:r>
          </a:p>
          <a:p>
            <a:pPr>
              <a:spcAft>
                <a:spcPts val="700"/>
              </a:spcAft>
            </a:pPr>
            <a:r>
              <a:rPr b="1" sz="1100">
                <a:solidFill>
                  <a:srgbClr val="0F172A"/>
                </a:solidFill>
              </a:rPr>
              <a:t>• Core Capabilities: </a:t>
            </a:r>
            <a:r>
              <a:rPr b="0" sz="1100">
                <a:solidFill>
                  <a:srgbClr val="0F172A"/>
                </a:solidFill>
              </a:rPr>
              <a:t>Sub-20ms Crop Disease Vision, 10+ Indic Languages Speech, 15+ Central/State Subsidies</a:t>
            </a:r>
          </a:p>
        </p:txBody>
      </p:sp>
      <p:pic>
        <p:nvPicPr>
          <p:cNvPr id="7" name="Picture 6" descr="slide1_he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1371600"/>
            <a:ext cx="457200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Arial"/>
              </a:defRPr>
            </a:pPr>
            <a:r>
              <a:t>KISAN SAHAYAK AI</a:t>
            </a:r>
            <a:br/>
            <a:r>
              <a:t>Platform Overview, Key Gaps Closed &amp; Unique Innovations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93C5F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3383280" cy="411480"/>
          </a:xfrm>
          <a:prstGeom prst="roundRect">
            <a:avLst/>
          </a:prstGeom>
          <a:solidFill>
            <a:srgbClr val="EFF6FF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2563EB"/>
                </a:solidFill>
              </a:defRPr>
            </a:pPr>
            <a:r>
              <a:t>1. Platform Overview (How It Works)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65960"/>
            <a:ext cx="1005840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Voice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83080" y="1965960"/>
            <a:ext cx="100584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Camera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1965960"/>
            <a:ext cx="100584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WhatsApp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68880"/>
            <a:ext cx="3291840" cy="914400"/>
          </a:xfrm>
          <a:prstGeom prst="roundRect">
            <a:avLst/>
          </a:prstGeom>
          <a:solidFill>
            <a:srgbClr val="EEF2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2563EB"/>
                </a:solidFill>
              </a:defRPr>
            </a:pPr>
            <a:r>
              <a:t>AI CROP DOCTOR (ONNX MobileNetV4)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Upload leaf photo; executes in &lt;18ms on Snapdragon NPU to diagnose 38 crop diseases.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520440"/>
            <a:ext cx="329184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DETERMINISTIC AGRONOMIC CORE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Calculates exact chemical/organic pesticide dosages &amp; spray windows with zero hallucination.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4572000"/>
            <a:ext cx="329184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SCHEMES &amp; MULTILINGUAL ADVISORY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Matches 15+ government schemes (PM-KISAN, PMFBY) with instant voice speech output in 10+ Indic languages.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059669"/>
                </a:solidFill>
              </a:defRPr>
            </a:pPr>
            <a:r>
              <a:t>★ Works 100% offline without high digital literacy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9929092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69929184080" y="1463040"/>
            <a:ext cx="3383280" cy="41148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DC2626"/>
                </a:solidFill>
              </a:defRPr>
            </a:pPr>
            <a:r>
              <a:t>2. Key Agronomic Gaps Closed (Problem → AI Solution)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69929229800" y="2011680"/>
            <a:ext cx="3291840" cy="109728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C2626"/>
                </a:solidFill>
              </a:defRPr>
            </a:pPr>
            <a:r>
              <a:t>DIAGNOSTIC DELAY &amp; 35% YIELD LOSS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Agronomists take days to reach rural villages.</a:t>
            </a:r>
            <a:br/>
            <a:r>
              <a:t>→ Solution: On-Device MobileNetV4 provides sub-20ms diagnosis at farm gate.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69929229800" y="3246120"/>
            <a:ext cx="3291840" cy="10972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SCHEME CONFUSION (80% UNCLAIMED)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Farmers unaware of eligibility criteria &amp; forms.</a:t>
            </a:r>
            <a:br/>
            <a:r>
              <a:t>→ Solution: Rule engine matches PM-KISAN, PMFBY, KCC &amp; SMAM (50-80% subsidy).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69929229800" y="4480560"/>
            <a:ext cx="3291840" cy="10972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059669"/>
                </a:solidFill>
              </a:defRPr>
            </a:pPr>
            <a:r>
              <a:t>RURAL CONNECTIVITY VOID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Problem: 4G/5G drops in deep fields, cloud apps fail.</a:t>
            </a:r>
            <a:br/>
            <a:r>
              <a:t>→ Solution: 100% On-Device execution via Snapdragon Hexagon NPU &amp; IndexedDB PWA.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9929184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2563EB"/>
                </a:solidFill>
              </a:defRPr>
            </a:pPr>
            <a:r>
              <a:t>Problem → Understanding → Actionable Agronomic Solution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39857636640" y="1371600"/>
            <a:ext cx="356616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B4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39857728080" y="1463040"/>
            <a:ext cx="3383280" cy="411480"/>
          </a:xfrm>
          <a:prstGeom prst="roundRect">
            <a:avLst/>
          </a:prstGeom>
          <a:solidFill>
            <a:srgbClr val="FAF5FF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7C3AED"/>
                </a:solidFill>
              </a:defRPr>
            </a:pPr>
            <a:r>
              <a:t>3. Unique Innovation (Capabilities &amp; Advantages)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39857773800" y="2011680"/>
            <a:ext cx="1600200" cy="91440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2563EB"/>
                </a:solidFill>
              </a:defRPr>
            </a:pPr>
            <a:r>
              <a:t>MULTI-SURFACE ACCESS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WhatsApp + SMS + Offline Web PWA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39859465440" y="2011680"/>
            <a:ext cx="1600200" cy="91440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059669"/>
                </a:solidFill>
              </a:defRPr>
            </a:pPr>
            <a:r>
              <a:t>SUB-20ms ON-DEVICE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Snapdragon Hexagon NPU INT8 Vision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39857773800" y="3017520"/>
            <a:ext cx="1600200" cy="91440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97706"/>
                </a:solidFill>
              </a:defRPr>
            </a:pPr>
            <a:r>
              <a:t>EXPLAINABLE AI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Clear causal audit &amp; spray recipes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39859465440" y="3017520"/>
            <a:ext cx="1600200" cy="914400"/>
          </a:xfrm>
          <a:prstGeom prst="roundRect">
            <a:avLst/>
          </a:prstGeom>
          <a:solidFill>
            <a:srgbClr val="FEF2F2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850">
                <a:solidFill>
                  <a:srgbClr val="DC2626"/>
                </a:solidFill>
              </a:defRPr>
            </a:pPr>
            <a:r>
              <a:t>15+ CURATED SCHEMES</a:t>
            </a:r>
          </a:p>
          <a:p>
            <a:pPr>
              <a:defRPr sz="780">
                <a:solidFill>
                  <a:srgbClr val="334155"/>
                </a:solidFill>
              </a:defRPr>
            </a:pPr>
            <a:r>
              <a:t>Rule-based instant eligibility match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39857773800" y="4114800"/>
            <a:ext cx="3291840" cy="1371600"/>
          </a:xfrm>
          <a:prstGeom prst="roundRect">
            <a:avLst/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7C3AED"/>
                </a:solidFill>
              </a:defRPr>
            </a:pPr>
            <a:r>
              <a:t>VILLAGE KIOSK &amp; SHG FACILITATOR MODE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Village Panchayat Kiosks and Women Self-Help Groups (SHGs) can run batch diagnostic scans for multiple farmers on a single Snapdragon laptop with zero cloud token cost.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3985772808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7C3AED"/>
                </a:solidFill>
              </a:defRPr>
            </a:pPr>
            <a:r>
              <a:t>Designed for real rural usage - not just urban smartphone users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Arial"/>
              </a:defRPr>
            </a:pPr>
            <a:r>
              <a:t>TECHNICAL APPROACH</a:t>
            </a:r>
            <a:br/>
            <a:r>
              <a:t>Architecture, Snapdragon® NPU Acceleration &amp; Design Principles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411480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182880"/>
          <a:lstStyle/>
          <a:p>
            <a:pPr algn="ctr">
              <a:spcAft>
                <a:spcPts val="800"/>
              </a:spcAft>
              <a:defRPr b="1" sz="1300">
                <a:solidFill>
                  <a:srgbClr val="0F172A"/>
                </a:solidFill>
              </a:defRPr>
            </a:pPr>
            <a:r>
              <a:t>Technology Stack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Frontend &amp; PWA: </a:t>
            </a:r>
            <a:r>
              <a:rPr sz="850">
                <a:solidFill>
                  <a:srgbClr val="334155"/>
                </a:solidFill>
              </a:rPr>
              <a:t>React 19, Tailwind CSS, Lucide Icons, Canvas Camera ROI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AI Runtime: </a:t>
            </a:r>
            <a:r>
              <a:rPr sz="850">
                <a:solidFill>
                  <a:srgbClr val="334155"/>
                </a:solidFill>
              </a:rPr>
              <a:t>ONNX Runtime Web with Qualcomm Hexagon NPU Provider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Vision Model: </a:t>
            </a:r>
            <a:r>
              <a:rPr sz="850">
                <a:solidFill>
                  <a:srgbClr val="334155"/>
                </a:solidFill>
              </a:rPr>
              <a:t>MobileNetV4 INT8 (38 plant pathology classes, &lt;18ms)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Voice Speech: </a:t>
            </a:r>
            <a:r>
              <a:rPr sz="850">
                <a:solidFill>
                  <a:srgbClr val="334155"/>
                </a:solidFill>
              </a:rPr>
              <a:t>Whisper Tiny INT8 (10+ Indic languages, zero latency)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Rule Engines: </a:t>
            </a:r>
            <a:r>
              <a:rPr sz="850">
                <a:solidFill>
                  <a:srgbClr val="334155"/>
                </a:solidFill>
              </a:rPr>
              <a:t>Deterministic fertilizer/pesticide dosage &amp; 15+ subsidy match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Mandi &amp; Weather: </a:t>
            </a:r>
            <a:r>
              <a:rPr sz="850">
                <a:solidFill>
                  <a:srgbClr val="334155"/>
                </a:solidFill>
              </a:rPr>
              <a:t>APMC 500+ Mandi rates + localized hourly weather alerts</a:t>
            </a:r>
          </a:p>
          <a:p>
            <a:pPr>
              <a:spcAft>
                <a:spcPts val="400"/>
              </a:spcAft>
            </a:pPr>
            <a:r>
              <a:rPr b="1" sz="900">
                <a:solidFill>
                  <a:srgbClr val="0F172A"/>
                </a:solidFill>
              </a:rPr>
              <a:t>• Hardware: </a:t>
            </a:r>
            <a:r>
              <a:rPr sz="850">
                <a:solidFill>
                  <a:srgbClr val="334155"/>
                </a:solidFill>
              </a:rPr>
              <a:t>Qualcomm Snapdragon® X Elite (45 TOPS NPU, 4.2W power)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4114800"/>
            <a:ext cx="3840480" cy="20116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/>
          <a:lstStyle/>
          <a:p>
            <a:pPr algn="ctr">
              <a:spcAft>
                <a:spcPts val="400"/>
              </a:spcAft>
              <a:defRPr b="1" sz="950">
                <a:solidFill>
                  <a:srgbClr val="2563EB"/>
                </a:solidFill>
              </a:defRPr>
            </a:pPr>
            <a:r>
              <a:t>CORE DESIGN PRINCIPLE: ZERO HALLUCINATION</a:t>
            </a:r>
          </a:p>
          <a:p>
            <a:pPr>
              <a:defRPr sz="850">
                <a:solidFill>
                  <a:srgbClr val="334155"/>
                </a:solidFill>
              </a:defRPr>
            </a:pPr>
            <a:r>
              <a:t>All crop disease arithmetic, chemical concentrations, and government scheme eligibility run on deterministic rule-based code. The AI model is strictly used for computer vision and Indic voice transcription—ensuring 100% auditability and zero dangerous pesticide dosage advice.</a:t>
            </a:r>
          </a:p>
        </p:txBody>
      </p:sp>
      <p:pic>
        <p:nvPicPr>
          <p:cNvPr id="8" name="Picture 7" descr="slide3_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1371600"/>
            <a:ext cx="6766560" cy="49377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Arial"/>
              </a:defRPr>
            </a:pPr>
            <a:r>
              <a:t>FEASIBILITY AND VIABILITY</a:t>
            </a:r>
            <a:br/>
            <a:r>
              <a:t>Hierarchical Solution Analysis, Operational Viability &amp; Mitigation Strategies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lide4_t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94415" cy="49377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Arial"/>
              </a:defRPr>
            </a:pPr>
            <a:r>
              <a:t>IMPACT AND BENEFITS</a:t>
            </a:r>
            <a:br/>
            <a:r>
              <a:t>Quantifiable Agronomic Gains, Inclusion &amp; Measurable Socio-Economic Value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66160" cy="20574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con_financi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1600200"/>
            <a:ext cx="1051560" cy="1051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8308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2563EB"/>
                </a:solidFill>
                <a:latin typeface="Arial"/>
              </a:defRPr>
            </a:pPr>
            <a:r>
              <a:t>Financial Clarity &amp; Yield Gain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Saves ₹12,000 – ₹18,000/acre by averting catastrophic blight outbreaks. Precise spray guidance cuts unnecessary pesticide expenditure by ₹3,500/season.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3566160" cy="205740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con_sche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0560" y="160020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7784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C2626"/>
                </a:solidFill>
                <a:latin typeface="Arial"/>
              </a:defRPr>
            </a:pPr>
            <a:r>
              <a:t>Direct Access to Subsidies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Auto-matches 15+ Central &amp; State schemes (PM-KISAN, PMFBY, PM-KUSUM 90% solar pump, SMAM 50-80% farm mechanization) with instant eligibility checklist.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371600"/>
            <a:ext cx="3566160" cy="205740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con_whatsap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0" y="1600200"/>
            <a:ext cx="1051560" cy="1051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372600" y="150876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59669"/>
                </a:solidFill>
                <a:latin typeface="Arial"/>
              </a:defRPr>
            </a:pPr>
            <a:r>
              <a:t>Inclusive Multichannel Access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Zero barrier adoption: works via WhatsApp Bot, SMS fallback, and multilingual voice speech in 10+ Indic languages. No high digital literacy needed.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566160" cy="2057400"/>
          </a:xfrm>
          <a:prstGeom prst="roundRect">
            <a:avLst/>
          </a:prstGeom>
          <a:solidFill>
            <a:srgbClr val="FFF7ED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con_offlin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840480"/>
            <a:ext cx="1051560" cy="10515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8308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D97706"/>
                </a:solidFill>
                <a:latin typeface="Arial"/>
              </a:defRPr>
            </a:pPr>
            <a:r>
              <a:t>100% Offline Edge Resilient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On-Device Snapdragon NPU vision and IndexedDB local storage ensure full functionality in deep rural farm fields with zero 4G/5G connectivity.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11880"/>
            <a:ext cx="3566160" cy="2057400"/>
          </a:xfrm>
          <a:prstGeom prst="roundRect">
            <a:avLst/>
          </a:prstGeom>
          <a:solidFill>
            <a:srgbClr val="FAF5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con_farm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0560" y="3840480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57784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7C3AED"/>
                </a:solidFill>
                <a:latin typeface="Arial"/>
              </a:defRPr>
            </a:pPr>
            <a:r>
              <a:t>Marginal Farmer Empowerment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Custom-tailored for 120M+ small &amp; marginal farmers, SC/ST rural entrepreneurs, and Women SHGs running localized farm-gate diagnostics.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3611880"/>
            <a:ext cx="3566160" cy="2057400"/>
          </a:xfrm>
          <a:prstGeom prst="roundRect">
            <a:avLst/>
          </a:prstGeom>
          <a:solidFill>
            <a:srgbClr val="ECFEFF"/>
          </a:solidFill>
          <a:ln w="19050">
            <a:solidFill>
              <a:srgbClr val="0891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con_explainab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5320" y="3840480"/>
            <a:ext cx="1051560" cy="105156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372600" y="3749040"/>
            <a:ext cx="224028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50" b="1">
                <a:solidFill>
                  <a:srgbClr val="0891B2"/>
                </a:solidFill>
                <a:latin typeface="Arial"/>
              </a:defRPr>
            </a:pPr>
            <a:r>
              <a:t>Trust via Explainable AI</a:t>
            </a:r>
          </a:p>
          <a:p>
            <a:pPr>
              <a:defRPr sz="850">
                <a:solidFill>
                  <a:srgbClr val="334155"/>
                </a:solidFill>
                <a:latin typeface="Arial"/>
              </a:defRPr>
            </a:pPr>
            <a:r>
              <a:t>Every recommendation provides transparent 'WHY' causal reasoning, organic biological controls (Neem/Trichoderma), and government-approved chemical dosages.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806440"/>
            <a:ext cx="11094415" cy="594360"/>
          </a:xfrm>
          <a:prstGeom prst="roundRect">
            <a:avLst/>
          </a:prstGeom>
          <a:solidFill>
            <a:srgbClr val="0F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09728"/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🎯 Empowering Farmers. Enabling Growth.        🛡️ Transparent • Inclusive • Reliable.        🏆 Real Agronomic Impact. Stronger Rural Communities.            [ 05 ]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8686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45920" y="274320"/>
            <a:ext cx="8046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100" b="1">
                <a:solidFill>
                  <a:srgbClr val="0F172A"/>
                </a:solidFill>
                <a:latin typeface="Arial"/>
              </a:defRPr>
            </a:pPr>
            <a:r>
              <a:t>RESEARCH AND REFERENCES</a:t>
            </a:r>
            <a:br/>
            <a:r>
              <a:t>Evaluating Key Differentiators &amp; Competitive Comparison Matrix</a:t>
            </a:r>
          </a:p>
        </p:txBody>
      </p:sp>
      <p:pic>
        <p:nvPicPr>
          <p:cNvPr id="4" name="Picture 3" descr="challenge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28600"/>
            <a:ext cx="1645920" cy="9144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1234440"/>
            <a:ext cx="1127729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291840" cy="49377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/>
          <a:lstStyle/>
          <a:p>
            <a:pPr algn="ctr">
              <a:spcAft>
                <a:spcPts val="800"/>
              </a:spcAft>
              <a:defRPr b="1" sz="1200">
                <a:solidFill>
                  <a:srgbClr val="0F172A"/>
                </a:solidFill>
              </a:defRPr>
            </a:pPr>
            <a:r>
              <a:t>References &amp; Benchmarks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Qualcomm AI Hub: ONNX Runtime INT8 MobileNetV4 &amp; Whisper optimization for Hexagon NPU.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PlantVillage Dataset: 54,303 expert-annotated leaf images across 38 crop disease classes.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ICAR (Indian Council of Agricultural Research): Integrated Pest Management (IPM) chemical &amp; bio-fungicide spray standards.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Jan Samarth Portal &amp; UMANG App: Unified government credit linkage and agricultural subsidy schemes.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Ministry of Agriculture &amp; Farmers Welfare: PM-KISAN, PMFBY, SMAM guidelines (2024-2026).</a:t>
            </a:r>
          </a:p>
          <a:p>
            <a:pPr>
              <a:spcAft>
                <a:spcPts val="600"/>
              </a:spcAft>
              <a:defRPr sz="850">
                <a:solidFill>
                  <a:srgbClr val="334155"/>
                </a:solidFill>
              </a:defRPr>
            </a:pPr>
            <a:r>
              <a:t>• Digital Personal Data Protection (DPDP) Act 2023: 100% on-device data privacy compliance.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023360" y="1371600"/>
          <a:ext cx="75895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920240"/>
                <a:gridCol w="1280160"/>
                <a:gridCol w="1280160"/>
              </a:tblGrid>
              <a:tr h="617220">
                <a:tc>
                  <a:txBody>
                    <a:bodyPr/>
                    <a:lstStyle/>
                    <a:p>
                      <a:pPr algn="l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Feature / Aspect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Kisan Sahayak AI (Our App)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Jan Samarth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UMANG</a:t>
                      </a:r>
                    </a:p>
                  </a:txBody>
                  <a:tcPr>
                    <a:solidFill>
                      <a:srgbClr val="0F1E36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Works 100% Offline (Zero Internet)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(On-Device NPU)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Sub-20ms Crop Disease Vision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(MobileNetV4 INT8)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Multilingual Voice &amp; WhatsApp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(Whisper + Bot)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(Web Form)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(Menus)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Zero Cloud Token / Server OPEX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(Client Compute)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(High OPEX)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15+ Auto-Matched Agri Subsidies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(Rule Matcher)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Yes (Loans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 (Scattered)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Real-Time Mandi Bhav &amp; Weather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(Integrated APMC)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No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334155"/>
                          </a:solidFill>
                        </a:defRPr>
                      </a:pPr>
                      <a:r>
                        <a:t>✔ Basic Links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0F172A"/>
                          </a:solidFill>
                        </a:defRPr>
                      </a:pPr>
                      <a:r>
                        <a:t>DPDPA 2023 Privacy Compliant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59669"/>
                          </a:solidFill>
                        </a:defRPr>
                      </a:pPr>
                      <a:r>
                        <a:t>✔ Yes (Zero Cloud Leak)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solidFill>
                            <a:srgbClr val="DC2626"/>
                          </a:solidFill>
                        </a:defRPr>
                      </a:pPr>
                      <a:r>
                        <a:t>✖ Cloud Stored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E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/>
          <a:lstStyle/>
          <a:p>
            <a:pPr algn="ctr">
              <a:defRPr sz="900">
                <a:solidFill>
                  <a:srgbClr val="94A3B8"/>
                </a:solidFill>
                <a:latin typeface="Arial"/>
              </a:defRPr>
            </a:pPr>
            <a:r>
              <a:t>@Qualcomm Snapdragon® AI Lab Build &amp; Present Challenge 2026  |  Project: Kisan Sahayak AI  |  Developer: MOHD UBES                 Page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