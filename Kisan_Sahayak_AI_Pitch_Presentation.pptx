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6949440" cy="5394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05840"/>
            <a:ext cx="6400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QUALCOMM SNAPDRAGON® AI LAB CHALLENGE</a:t>
            </a:r>
          </a:p>
          <a:p>
            <a:pPr>
              <a:spcBef>
                <a:spcPts val="600"/>
              </a:spcBef>
              <a:defRPr sz="2600" b="1">
                <a:solidFill>
                  <a:srgbClr val="065F46"/>
                </a:solidFill>
              </a:defRPr>
            </a:pPr>
            <a:r>
              <a:t>KISAN SAHAYAK AI (किसान सहायक AI)</a:t>
            </a:r>
          </a:p>
          <a:p>
            <a:pPr>
              <a:spcBef>
                <a:spcPts val="400"/>
              </a:spcBef>
              <a:spcAft>
                <a:spcPts val="1600"/>
              </a:spcAft>
              <a:defRPr sz="1300" b="1">
                <a:solidFill>
                  <a:srgbClr val="334155"/>
                </a:solidFill>
              </a:defRPr>
            </a:pPr>
            <a:r>
              <a:t>Offline-First Multimodal AI Assistant for 146M+ Indian Farmers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Problem Statement Title: </a:t>
            </a:r>
            <a:r>
              <a:rPr sz="1050">
                <a:solidFill>
                  <a:srgbClr val="334155"/>
                </a:solidFill>
              </a:rPr>
              <a:t>AI-Driven Agricultural Advisory &amp; Scheme Structuring for Rural Farmers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Theme / Track: </a:t>
            </a:r>
            <a:r>
              <a:rPr sz="1050">
                <a:solidFill>
                  <a:srgbClr val="334155"/>
                </a:solidFill>
              </a:rPr>
              <a:t>Agriculture, FoodTech &amp; Rural Development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Target Hardware: </a:t>
            </a:r>
            <a:r>
              <a:rPr sz="1050">
                <a:solidFill>
                  <a:srgbClr val="334155"/>
                </a:solidFill>
              </a:rPr>
              <a:t>Snapdragon®-Powered HP PCs (HP OmniBook Ultra &amp; HP OmniBook 3)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Acceleration Layer: </a:t>
            </a:r>
            <a:r>
              <a:rPr sz="1050">
                <a:solidFill>
                  <a:srgbClr val="334155"/>
                </a:solidFill>
              </a:rPr>
              <a:t>Qualcomm Hexagon™ NPU (45 TOPS · Sub-40ms HTP INT8 Inference)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Live Web Application: </a:t>
            </a:r>
            <a:r>
              <a:rPr sz="1050">
                <a:solidFill>
                  <a:srgbClr val="059669"/>
                </a:solidFill>
              </a:rPr>
              <a:t>https://kisan-sahayak-ai-ivory.vercel.app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Admin Portal Access: </a:t>
            </a:r>
            <a:r>
              <a:rPr sz="1050">
                <a:solidFill>
                  <a:srgbClr val="059669"/>
                </a:solidFill>
              </a:rPr>
              <a:t>https://kisan-sahayak-ai-ivory.vercel.app/?gov=kisanadmin2024</a:t>
            </a:r>
          </a:p>
          <a:p>
            <a:pPr>
              <a:spcAft>
                <a:spcPts val="600"/>
              </a:spcAft>
            </a:pPr>
            <a:r>
              <a:rPr b="1" sz="1050">
                <a:solidFill>
                  <a:srgbClr val="0F172A"/>
                </a:solidFill>
              </a:rPr>
              <a:t>•  GitHub Repository: </a:t>
            </a:r>
            <a:r>
              <a:rPr sz="1050">
                <a:solidFill>
                  <a:srgbClr val="059669"/>
                </a:solidFill>
              </a:rPr>
              <a:t>https://github.com/MOHDUBES/Kisan-Sahayak-AI.git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55279" y="731520"/>
            <a:ext cx="3474720" cy="5394960"/>
          </a:xfrm>
          <a:prstGeom prst="round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10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🌾 100% ON-DEVICE</a:t>
            </a:r>
          </a:p>
          <a:p>
            <a:pPr>
              <a:spcBef>
                <a:spcPts val="800"/>
              </a:spcBef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Zero Cloud Calls.</a:t>
            </a:r>
            <a:br/>
            <a:r>
              <a:t>Zero Rural Dead Zones.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📷 Kisan Kavach: 38ms Leaf Disease Diagnosis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🎙️ Awaaz Sahayak: Hindi/Hinglish Voice NLP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🏛️ Sarkari Yojana: 1-Click DBT e-KYC Wizard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💬 WhatsApp Bot: Dual Mode Simulation &amp; Meta API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🔋 HP OmniBook: 26+ Hr Field Battery Life</a:t>
            </a:r>
          </a:p>
          <a:p>
            <a:pPr>
              <a:spcAft>
                <a:spcPts val="1000"/>
              </a:spcAft>
              <a:defRPr sz="1100">
                <a:solidFill>
                  <a:srgbClr val="ECFDF5"/>
                </a:solidFill>
              </a:defRPr>
            </a:pPr>
            <a:r>
              <a:t>✔  ⚡ 40× Lower Power: 0.45W NPU Execution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PLATFORM OVERVIEW &amp;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59669"/>
                </a:solidFill>
              </a:defRPr>
            </a:pPr>
            <a:r>
              <a:t>Structured Problem -&gt; Solution -&gt; Innovation Pipeline for Rural India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54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065F46"/>
                </a:solidFill>
              </a:defRPr>
            </a:pPr>
            <a:r>
              <a:t>1. PLATFORM OVERVIEW</a:t>
            </a:r>
            <a:br/>
            <a:r>
              <a:t>(How Kisan Sahayak AI Works)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▼  MULTIMODAL FARMER INPUTS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Voice (Hindi/Hinglish) · Camera Leaf Photo · WhatsApp / Web Text</a:t>
            </a:r>
          </a:p>
          <a:p>
            <a:pPr>
              <a:defRPr sz="1000" b="1">
                <a:solidFill>
                  <a:srgbClr val="065F46"/>
                </a:solidFill>
              </a:defRPr>
            </a:pPr>
            <a:r>
              <a:t>▼  ON-DEVICE NPU ORCHESTRATOR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Qualcomm Hexagon HTP · EfficientNet-Lite0 INT8 · MobileBERT NLU</a:t>
            </a:r>
          </a:p>
          <a:p>
            <a:pPr>
              <a:defRPr sz="1000" b="1">
                <a:solidFill>
                  <a:srgbClr val="D97706"/>
                </a:solidFill>
              </a:defRPr>
            </a:pPr>
            <a:r>
              <a:t>▼  KNOWLEDGE &amp; ADVISORY ENGINE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Crop Disease Dossiers · Live Mandi Rates · 15+ Central Schemes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▼  ACTIONABLE FARMER OUTPUTS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Voice Spoken Advice · Digital KYC Certificate · WhatsApp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290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00200"/>
            <a:ext cx="3154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D97706"/>
                </a:solidFill>
              </a:defRPr>
            </a:pPr>
            <a:r>
              <a:t>2. KEY GAPS CLOSED</a:t>
            </a:r>
            <a:br/>
            <a:r>
              <a:t>(Problem  ➔  AI Solution)</a:t>
            </a:r>
          </a:p>
          <a:p>
            <a:pPr>
              <a:defRPr sz="1000" b="1">
                <a:solidFill>
                  <a:srgbClr val="B91C1C"/>
                </a:solidFill>
              </a:defRPr>
            </a:pPr>
            <a:r>
              <a:t>GAP: 60%+ Rural Internet Dead Zones</a:t>
            </a:r>
          </a:p>
          <a:p>
            <a:pPr>
              <a:spcAft>
                <a:spcPts val="1000"/>
              </a:spcAft>
              <a:defRPr sz="950">
                <a:solidFill>
                  <a:srgbClr val="065F46"/>
                </a:solidFill>
              </a:defRPr>
            </a:pPr>
            <a:r>
              <a:t>➔ 100% Offline Edge Inference on Snapdragon NPU. Zero cellular reliance.</a:t>
            </a:r>
          </a:p>
          <a:p>
            <a:pPr>
              <a:defRPr sz="1000" b="1">
                <a:solidFill>
                  <a:srgbClr val="B91C1C"/>
                </a:solidFill>
              </a:defRPr>
            </a:pPr>
            <a:r>
              <a:t>GAP: ₹90K Cr Annual Crop Foliar Loss</a:t>
            </a:r>
          </a:p>
          <a:p>
            <a:pPr>
              <a:spcAft>
                <a:spcPts val="1000"/>
              </a:spcAft>
              <a:defRPr sz="950">
                <a:solidFill>
                  <a:srgbClr val="065F46"/>
                </a:solidFill>
              </a:defRPr>
            </a:pPr>
            <a:r>
              <a:t>➔ Kisan Kavach delivers 38ms botanical diagnosis with organic &amp; chemical dosage.</a:t>
            </a:r>
          </a:p>
          <a:p>
            <a:pPr>
              <a:defRPr sz="1000" b="1">
                <a:solidFill>
                  <a:srgbClr val="B91C1C"/>
                </a:solidFill>
              </a:defRPr>
            </a:pPr>
            <a:r>
              <a:t>GAP: Low Literacy &amp; English Portals</a:t>
            </a:r>
          </a:p>
          <a:p>
            <a:pPr>
              <a:spcAft>
                <a:spcPts val="1000"/>
              </a:spcAft>
              <a:defRPr sz="950">
                <a:solidFill>
                  <a:srgbClr val="065F46"/>
                </a:solidFill>
              </a:defRPr>
            </a:pPr>
            <a:r>
              <a:t>➔ Conversational Hindi/Hinglish voice queries (Awaaz Sahayak) + Audio responses.</a:t>
            </a:r>
          </a:p>
          <a:p>
            <a:pPr>
              <a:defRPr sz="1000" b="1">
                <a:solidFill>
                  <a:srgbClr val="B91C1C"/>
                </a:solidFill>
              </a:defRPr>
            </a:pPr>
            <a:r>
              <a:t>GAP: PFMS 104 Bank Rejections</a:t>
            </a:r>
          </a:p>
          <a:p>
            <a:pPr>
              <a:spcAft>
                <a:spcPts val="1000"/>
              </a:spcAft>
              <a:defRPr sz="950">
                <a:solidFill>
                  <a:srgbClr val="065F46"/>
                </a:solidFill>
              </a:defRPr>
            </a:pPr>
            <a:r>
              <a:t>➔ WhatsApp Admin Resolution Desk with 1-click nodal officer fixes.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4290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00200"/>
            <a:ext cx="3154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065F46"/>
                </a:solidFill>
              </a:defRPr>
            </a:pPr>
            <a:r>
              <a:t>3. UNIQUE INNOVATION</a:t>
            </a:r>
            <a:br/>
            <a:r>
              <a:t>(Capabilities &amp; Advantages)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★  45 TOPS Qualcomm Hexagon NPU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Hardware INT8 quantization compiled via Qualcomm AI Hub. 40× faster than CPU.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★  26+ Hr All-Day Battery (HP PC)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Sub-watt power draw (0.45W) enables KVK extension officers to tour 8 villages.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★  Native WhatsApp + Meta Cloud API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Dual mode: Offline simulator + live Meta WhatsApp Cloud API v19.0 webhook.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★  Deterministic 3-Step Scheme Gateway</a:t>
            </a:r>
          </a:p>
          <a:p>
            <a:pPr>
              <a:spcAft>
                <a:spcPts val="1000"/>
              </a:spcAft>
              <a:defRPr sz="950">
                <a:solidFill>
                  <a:srgbClr val="334155"/>
                </a:solidFill>
              </a:defRPr>
            </a:pPr>
            <a:r>
              <a:t>15+ Central/State schemes with instant PDF dossier &amp; QR verified certification.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APPROACH &amp;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59669"/>
                </a:solidFill>
              </a:defRPr>
            </a:pPr>
            <a:r>
              <a:t>Multi-Modal Client Surfaces Powered by Qualcomm Hexagon HTP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5F46"/>
                </a:solidFill>
              </a:defRPr>
            </a:pPr>
            <a:r>
              <a:t>TECHNOLOGY STACK &amp; RUNTIME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Frontend Application: </a:t>
            </a:r>
            <a:r>
              <a:rPr sz="950">
                <a:solidFill>
                  <a:srgbClr val="334155"/>
                </a:solidFill>
              </a:rPr>
              <a:t>React 19, Tailwind CSS v4, Vite 8 (Progressive Web App - 100% Offline)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Hardware Target: </a:t>
            </a:r>
            <a:r>
              <a:rPr sz="950">
                <a:solidFill>
                  <a:srgbClr val="334155"/>
                </a:solidFill>
              </a:rPr>
              <a:t>HP OmniBook Ultra &amp; HP OmniBook 3 (Snapdragon® X Elite &amp; X Plus)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Vision NPU Model: </a:t>
            </a:r>
            <a:r>
              <a:rPr sz="950">
                <a:solidFill>
                  <a:srgbClr val="334155"/>
                </a:solidFill>
              </a:rPr>
              <a:t>Qualcomm AI Hub compiled EfficientNet-Lite0 / MobileNetV2 (W8A8 INT8, 5.2 MB)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Voice NLP Engine: </a:t>
            </a:r>
            <a:r>
              <a:rPr sz="950">
                <a:solidFill>
                  <a:srgbClr val="334155"/>
                </a:solidFill>
              </a:rPr>
              <a:t>Offline Web Speech API (hi-IN) + Rule-Based 12-Intent Categorizer (intentDetector.js)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Messaging Bus: </a:t>
            </a:r>
            <a:r>
              <a:rPr sz="950">
                <a:solidFill>
                  <a:srgbClr val="334155"/>
                </a:solidFill>
              </a:rPr>
              <a:t>Reactive WhatsApp Store (whatsappStore.js) with CustomEvent telemetry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Meta Cloud API: </a:t>
            </a:r>
            <a:r>
              <a:rPr sz="950">
                <a:solidFill>
                  <a:srgbClr val="334155"/>
                </a:solidFill>
              </a:rPr>
              <a:t>Official Meta Graph API v19.0 + Node.js Webhook Server (server/whatsapp_bot_server.js)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0F172A"/>
                </a:solidFill>
              </a:rPr>
              <a:t>• Cloud CDN &amp; HTTPS: </a:t>
            </a:r>
            <a:r>
              <a:rPr sz="950">
                <a:solidFill>
                  <a:srgbClr val="334155"/>
                </a:solidFill>
              </a:rPr>
              <a:t>Vercel Global Edge Network with automated SSL for camera &amp; audio access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463040"/>
            <a:ext cx="6400800" cy="3931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554480"/>
            <a:ext cx="6035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D97706"/>
                </a:solidFill>
              </a:defRPr>
            </a:pPr>
            <a:r>
              <a:t>4-TIER MULTIMODAL SYSTEM ARCHITECTURE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█  TIER 1: MULTI-CHANNEL CLIENT SURFACES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Farmer Web Portal · 24/7 AI Assistant · WhatsApp Bot Simulator · Admin Desk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█  TIER 2: ORCHESTRATION &amp; EVENT BUS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localStorage Synchronizer · CustomEvent Telemetry Bus · Multi-Farmer Thread Store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█  TIER 3: CORE INTELLIGENCE SERVICES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Kisan Kavach Vision · Awaaz Sahayak Voice · Schemes DBT Engine · Mandi Bhav Service</a:t>
            </a:r>
          </a:p>
          <a:p>
            <a:pPr>
              <a:defRPr b="1" sz="1050">
                <a:solidFill>
                  <a:srgbClr val="0F172A"/>
                </a:solidFill>
              </a:defRPr>
            </a:pPr>
            <a:r>
              <a:t>█  TIER 4: HARDWARE ACCELERATION &amp; ENCRYPTION</a:t>
            </a:r>
          </a:p>
          <a:p>
            <a:pPr>
              <a:spcAft>
                <a:spcPts val="800"/>
              </a:spcAft>
              <a:defRPr sz="950">
                <a:solidFill>
                  <a:srgbClr val="334155"/>
                </a:solidFill>
              </a:defRPr>
            </a:pPr>
            <a:r>
              <a:t>Qualcomm Hexagon™ HTP NPU (45 TOPS) · QNN SDK Runtime · Qualcomm SPU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5486400"/>
            <a:ext cx="6400800" cy="91440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5532120"/>
            <a:ext cx="6035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65F46"/>
                </a:solidFill>
              </a:defRPr>
            </a:pPr>
            <a:r>
              <a:t>Core Design Principle: Zero Cloud Leakage &amp; Full Explainability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All neural network inference (vision/NLU) and scheme eligibility logic execute locally on the Snapdragon PC. No farmer photo or sensitive land record is uploaded to third-party clouds.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FEASIBILITY AND VIABILITY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59669"/>
                </a:solidFill>
              </a:defRPr>
            </a:pPr>
            <a:r>
              <a:t>Operational Viability, Deployment Feasibility, Challenges and Mitigation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65F46"/>
                </a:solidFill>
              </a:defRPr>
            </a:pPr>
            <a:r>
              <a:t>✔  FEASIBILITY OF THE SOLUTION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105156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Zero-Cost Client Runtime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Operates directly in modern browsers via WebAssembly &amp; Qualcomm QNN SDK. Eliminates costly cloud GPU subscriptions ($0 server bill).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63240"/>
            <a:ext cx="521208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36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Low Maintenance &amp; Code Independence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Scheme datasets and disease remedies are structured in editable JSON files. Extension officers can update data without redeploying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1051560"/>
          </a:xfrm>
          <a:prstGeom prst="roundRect">
            <a:avLst/>
          </a:prstGeom>
          <a:solidFill>
            <a:srgbClr val="FAF5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79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Unified Business Logic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A single reactive communication bus (whatsappStore.js) drives the web dashboard, voice assistant, and WhatsApp simulator simultaneously.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49240"/>
            <a:ext cx="52120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22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Auditable &amp; Deterministic Core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All agricultural remedies reference verified agrochemicals (Tilt, Baan, Blitox) with explicit CIBRC dosage recommendations.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46304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91C1C"/>
                </a:solidFill>
              </a:defRPr>
            </a:pPr>
            <a:r>
              <a:t>⚡  CHALLENGES &amp; MITIGATION STRATEGIES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20240"/>
            <a:ext cx="5212080" cy="1051560"/>
          </a:xfrm>
          <a:prstGeom prst="roundRect">
            <a:avLst/>
          </a:prstGeom>
          <a:solidFill>
            <a:srgbClr val="FEF2F2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993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Challenge: Fragmented Rural Internet (2G/3G)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Strategy: 100% offline edge caching via Progressive Web App Service Workers and local on-device Hexagon NPU inference.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63240"/>
            <a:ext cx="5212080" cy="10515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36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Challenge: Extreme Summer Heat (45°C Field Visits)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Strategy: Snapdragon NPU draws ~0.45W (vs 18.2W CPU), running cool and fanless without thermal throttling on HP OmniBook.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21208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279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Challenge: Multilingual &amp; Low Literacy Barrier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Strategy: Conversational Hindi/Hinglish speech recognition &amp; voice playback (Awaaz Sahayak) + familiar WhatsApp bot interface.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349240"/>
            <a:ext cx="5212080" cy="105156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5422392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solidFill>
                  <a:srgbClr val="0F172A"/>
                </a:solidFill>
              </a:defRPr>
            </a:pPr>
            <a:r>
              <a:t>Challenge: Production Scale &amp; WhatsApp Meta API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Strategy: Future-ready dual mode: local simulation today, with 1-click credentials for live Meta WhatsApp Cloud API v19.0.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IMPACT AND MEASURABLE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59669"/>
                </a:solidFill>
              </a:defRPr>
            </a:pPr>
            <a:r>
              <a:t>Preserving Agricultural Yields, Reducing Input Costs, and Bridging Rural Divides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29000" cy="201168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5F46"/>
                </a:solidFill>
              </a:defRPr>
            </a:pPr>
            <a:r>
              <a:t>💰 Financial Savings &amp; Crop Yield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₹12,000 - ₹18,000 Saved Per Acre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Early foliar diagnosis stops disease spread before epidemic losses occur across wheat, paddy, mustard &amp; cotton.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429000" cy="201168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002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🏛️ Direct Access to Welfare Funds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15+ Central &amp; State Schemes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Auto-matched applications for PM-KISAN (₹6,000/yr), PMFBY Crop Insurance, and KCC with instant digital certificates.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463040"/>
            <a:ext cx="3429000" cy="201168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39" y="160020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D97706"/>
                </a:solidFill>
              </a:defRPr>
            </a:pPr>
            <a:r>
              <a:t>💬 Inclusive WhatsApp Access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Zero Learning Curve for Farmers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Works inside WhatsApp and voice dialogue so non-tech-savvy farmers can query without navigating complex websites.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2011680"/>
          </a:xfrm>
          <a:prstGeom prst="roundRect">
            <a:avLst/>
          </a:prstGeom>
          <a:solidFill>
            <a:srgbClr val="FAF5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9476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📶 100% Connectivity-Ready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Zero Mobile Network Required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Fully functional in active farm fields during network blackouts. Complete offline edge execution via Hexagon NPU.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57600"/>
            <a:ext cx="3429000" cy="2011680"/>
          </a:xfrm>
          <a:prstGeom prst="roundRect">
            <a:avLst/>
          </a:prstGeom>
          <a:solidFill>
            <a:srgbClr val="ECFDF5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9476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65F46"/>
                </a:solidFill>
              </a:defRPr>
            </a:pPr>
            <a:r>
              <a:t>🌾 Precision Pesticide Protection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₹3,500/Acre Chemical Reduction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Recommends verified biological alternatives and precise chemical dosages, preventing toxic groundwater runoff.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3657600"/>
            <a:ext cx="3429000" cy="201168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39" y="3794760"/>
            <a:ext cx="3154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72A"/>
                </a:solidFill>
              </a:defRPr>
            </a:pPr>
            <a:r>
              <a:t>🤝 Trust via Explainability</a:t>
            </a:r>
          </a:p>
          <a:p>
            <a:pPr>
              <a:spcBef>
                <a:spcPts val="400"/>
              </a:spcBef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Zero PFMS 104 Deadlocks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Explains *why* a disease is present and enables administrative officers to unblock stalled DBT benefits in 1 click.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🌱 Empowering Indian Farmers   |   ⚡ 45 TOPS Hexagon™ NPU   |   🔋 26+ Hr Battery   |   🌾 Target: 146M+ Farming Households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QUALCOMM SNAPDRAGON® AI LAB BUILD &amp; PRESENT CHALLENGE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RESEARCH, REFERENCES &amp; COMPETITIVE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59669"/>
                </a:solidFill>
              </a:defRPr>
            </a:pPr>
            <a:r>
              <a:t>Comparative Benchmark Against Existing Agricultural Portals &amp;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8404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5F46"/>
                </a:solidFill>
              </a:defRPr>
            </a:pPr>
            <a:r>
              <a:t>RESEARCH &amp; OFFICIAL REFERENCES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F172A"/>
                </a:solidFill>
              </a:rPr>
              <a:t>• Qualcomm AI Hub Model Registry
</a:t>
            </a:r>
            <a:r>
              <a:rPr sz="950">
                <a:solidFill>
                  <a:srgbClr val="334155"/>
                </a:solidFill>
              </a:rPr>
              <a:t>Pre-compiled INT8 models for Hexagon HTP: efficientnet-lite0-w8a8, mobilebert-int8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F172A"/>
                </a:solidFill>
              </a:rPr>
              <a:t>• Penn State PlantVillage Dataset
</a:t>
            </a:r>
            <a:r>
              <a:rPr sz="950">
                <a:solidFill>
                  <a:srgbClr val="334155"/>
                </a:solidFill>
              </a:rPr>
              <a:t>54,306 expert-annotated leaf disease images covering 38 crop disease classes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F172A"/>
                </a:solidFill>
              </a:rPr>
              <a:t>• PM-KISAN National Portal
</a:t>
            </a:r>
            <a:r>
              <a:rPr sz="950">
                <a:solidFill>
                  <a:srgbClr val="334155"/>
                </a:solidFill>
              </a:rPr>
              <a:t>Direct Benefit Transfer (DBT) guidelines, PFMS 104 Aadhaar bank mapping rules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F172A"/>
                </a:solidFill>
              </a:rPr>
              <a:t>• ICAR &amp; KVK Agronomy Guidelines
</a:t>
            </a:r>
            <a:r>
              <a:rPr sz="950">
                <a:solidFill>
                  <a:srgbClr val="334155"/>
                </a:solidFill>
              </a:rPr>
              <a:t>Standard package of practices for Wheat, Rice, Mustard, Potato and Tomato</a:t>
            </a:r>
          </a:p>
          <a:p>
            <a:pPr>
              <a:spcAft>
                <a:spcPts val="1000"/>
              </a:spcAft>
            </a:pPr>
            <a:r>
              <a:rPr b="1" sz="1000">
                <a:solidFill>
                  <a:srgbClr val="0F172A"/>
                </a:solidFill>
              </a:rPr>
              <a:t>• Digital Personal Data Protection Act 2023
</a:t>
            </a:r>
            <a:r>
              <a:rPr sz="950">
                <a:solidFill>
                  <a:srgbClr val="334155"/>
                </a:solidFill>
              </a:rPr>
              <a:t>Full edge compliance; zero farmer PII transmitted off-device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0" y="1463040"/>
          <a:ext cx="6675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371600"/>
                <a:gridCol w="1463040"/>
              </a:tblGrid>
              <a:tr h="70539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 / Capability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Kisan Sahayak AI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Generic Agri Apps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Govt Portals (UMANG)</a:t>
                      </a:r>
                    </a:p>
                  </a:txBody>
                  <a:tcPr>
                    <a:solidFill>
                      <a:srgbClr val="065F46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100% Offline Edge AI (Zero Net)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(Hexagon NPU)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(Needs 4G/5G)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(Cloud Portal)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Computer Vision Leaf Diagnosis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(&lt;40ms Local)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65F46"/>
                          </a:solidFill>
                        </a:defRPr>
                      </a:pPr>
                      <a:r>
                        <a:t>✔ (Slow Cloud 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(Not Supported)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Multilingual Voice Dialogue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(Native Hindi)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(English/Text)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(Complex Text)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WhatsApp Two-Way Sync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(Live Desk + API)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(No WhatsApp)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(No WhatsApp)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1-Click DBT Scheme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(Digital Cert.)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(Info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65F46"/>
                          </a:solidFill>
                        </a:defRPr>
                      </a:pPr>
                      <a:r>
                        <a:t>✔ (Multi-Step Forms)</a:t>
                      </a:r>
                    </a:p>
                  </a:txBody>
                  <a:tcPr/>
                </a:tc>
              </a:tr>
              <a:tr h="70539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Sub-Watt Battery Life (&lt;0.5W)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5F46"/>
                          </a:solidFill>
                        </a:defRPr>
                      </a:pPr>
                      <a:r>
                        <a:t>✔ (26+ Hr HP PC)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(15W+ Drain)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B91C1C"/>
                          </a:solidFill>
                        </a:defRPr>
                      </a:pPr>
                      <a:r>
                        <a:t>✘ (N/A)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